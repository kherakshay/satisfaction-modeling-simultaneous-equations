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743" r:id="rId2"/>
    <p:sldId id="558" r:id="rId3"/>
    <p:sldId id="753" r:id="rId4"/>
    <p:sldId id="744" r:id="rId5"/>
    <p:sldId id="748" r:id="rId6"/>
    <p:sldId id="745" r:id="rId7"/>
    <p:sldId id="746" r:id="rId8"/>
    <p:sldId id="747" r:id="rId9"/>
    <p:sldId id="759" r:id="rId10"/>
    <p:sldId id="758" r:id="rId11"/>
    <p:sldId id="763" r:id="rId12"/>
    <p:sldId id="764" r:id="rId13"/>
    <p:sldId id="762" r:id="rId14"/>
    <p:sldId id="756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702">
          <p15:clr>
            <a:srgbClr val="A4A3A4"/>
          </p15:clr>
        </p15:guide>
        <p15:guide id="2" pos="5465">
          <p15:clr>
            <a:srgbClr val="A4A3A4"/>
          </p15:clr>
        </p15:guide>
        <p15:guide id="3" pos="2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CBA"/>
    <a:srgbClr val="C6E6A2"/>
    <a:srgbClr val="C9C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0" autoAdjust="0"/>
    <p:restoredTop sz="94687" autoAdjust="0"/>
  </p:normalViewPr>
  <p:slideViewPr>
    <p:cSldViewPr>
      <p:cViewPr varScale="1">
        <p:scale>
          <a:sx n="70" d="100"/>
          <a:sy n="70" d="100"/>
        </p:scale>
        <p:origin x="1446" y="72"/>
      </p:cViewPr>
      <p:guideLst>
        <p:guide orient="horz" pos="3702"/>
        <p:guide pos="5465"/>
        <p:guide pos="29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-340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F570588-962B-4C25-A3F4-F93941DAE470}" type="datetimeFigureOut">
              <a:rPr lang="en-US"/>
              <a:pPr>
                <a:defRPr/>
              </a:pPr>
              <a:t>3/31/2016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2535091-3128-48C3-80B8-17FB8B5304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843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0DAFEC48-E246-4B94-846A-3A47C766FF4D}" type="datetimeFigureOut">
              <a:rPr lang="en-US"/>
              <a:pPr>
                <a:defRPr/>
              </a:pPr>
              <a:t>3/31/2016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E7EF794-08E8-468B-97A2-302C58749D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779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E0DF0E6-562F-4C56-90A5-BA85A9CAE88E}" type="slidenum">
              <a:rPr lang="en-US">
                <a:solidFill>
                  <a:prstClr val="black"/>
                </a:solidFill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285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7EF794-08E8-468B-97A2-302C58749D5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903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1"/>
          <p:cNvCxnSpPr/>
          <p:nvPr userDrawn="1"/>
        </p:nvCxnSpPr>
        <p:spPr>
          <a:xfrm>
            <a:off x="468313" y="5437188"/>
            <a:ext cx="8207375" cy="1587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031" y="1092169"/>
            <a:ext cx="7772400" cy="5842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 spc="-1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6031" y="1712889"/>
            <a:ext cx="7777269" cy="43815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68313" y="836613"/>
            <a:ext cx="8207375" cy="1587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12"/>
            <a:ext cx="8218488" cy="6318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3038" indent="-173038">
              <a:lnSpc>
                <a:spcPts val="2400"/>
              </a:lnSpc>
              <a:defRPr sz="1800"/>
            </a:lvl1pPr>
            <a:lvl2pPr marL="512763" indent="-166688">
              <a:lnSpc>
                <a:spcPts val="2000"/>
              </a:lnSpc>
              <a:defRPr sz="1400"/>
            </a:lvl2pPr>
            <a:lvl3pPr marL="858838" indent="-173038">
              <a:lnSpc>
                <a:spcPts val="2000"/>
              </a:lnSpc>
              <a:tabLst/>
              <a:defRPr sz="1400"/>
            </a:lvl3pPr>
            <a:lvl4pPr marL="1198563" indent="-166688">
              <a:lnSpc>
                <a:spcPts val="2000"/>
              </a:lnSpc>
              <a:defRPr/>
            </a:lvl4pPr>
            <a:lvl5pPr marL="1544638" indent="-173038">
              <a:lnSpc>
                <a:spcPts val="2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68313" y="1092200"/>
            <a:ext cx="8207375" cy="1588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12"/>
            <a:ext cx="7839126" cy="63181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0324"/>
            <a:ext cx="8229600" cy="4346601"/>
          </a:xfrm>
        </p:spPr>
        <p:txBody>
          <a:bodyPr/>
          <a:lstStyle>
            <a:lvl1pPr marL="173038" indent="-173038">
              <a:lnSpc>
                <a:spcPts val="2400"/>
              </a:lnSpc>
              <a:defRPr sz="1800"/>
            </a:lvl1pPr>
            <a:lvl2pPr marL="512763" indent="-166688">
              <a:lnSpc>
                <a:spcPts val="2000"/>
              </a:lnSpc>
              <a:defRPr sz="1400"/>
            </a:lvl2pPr>
            <a:lvl3pPr marL="858838" indent="-173038">
              <a:lnSpc>
                <a:spcPts val="2000"/>
              </a:lnSpc>
              <a:tabLst/>
              <a:defRPr sz="1400"/>
            </a:lvl3pPr>
            <a:lvl4pPr marL="1198563" indent="-166688">
              <a:lnSpc>
                <a:spcPts val="2000"/>
              </a:lnSpc>
              <a:defRPr/>
            </a:lvl4pPr>
            <a:lvl5pPr marL="1544638" indent="-173038">
              <a:lnSpc>
                <a:spcPts val="2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468313" y="836613"/>
            <a:ext cx="8207375" cy="1587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12"/>
            <a:ext cx="8229600" cy="6318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Graphic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7"/>
          <p:cNvCxnSpPr/>
          <p:nvPr userDrawn="1"/>
        </p:nvCxnSpPr>
        <p:spPr>
          <a:xfrm>
            <a:off x="468313" y="836613"/>
            <a:ext cx="8207375" cy="1587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223250" y="6446838"/>
            <a:ext cx="56515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912347A-A18B-4F61-98C7-64A7F8A54D07}" type="slidenum">
              <a:rPr lang="en-US" sz="900" b="1" smtClean="0"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 dirty="0" smtClean="0">
              <a:latin typeface="+mn-lt"/>
              <a:cs typeface="+mn-cs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50812"/>
            <a:ext cx="8229600" cy="6318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8223250" y="6446838"/>
            <a:ext cx="56515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340986D-7550-49E2-B81D-4D7A1FAC3CDA}" type="slidenum">
              <a:rPr lang="en-US" sz="900" b="1" smtClean="0"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 dirty="0" smtClean="0">
              <a:latin typeface="+mn-lt"/>
              <a:cs typeface="+mn-cs"/>
            </a:endParaRPr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68313" y="4413250"/>
            <a:ext cx="8207375" cy="1588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 userDrawn="1"/>
        </p:nvSpPr>
        <p:spPr>
          <a:xfrm>
            <a:off x="457200" y="4122738"/>
            <a:ext cx="7772400" cy="5842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spc="-100" baseline="0"/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1100" spc="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endParaRPr lang="en-US" sz="1100" spc="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50900" y="4597417"/>
            <a:ext cx="7772400" cy="5842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 spc="-1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57200" y="5218137"/>
            <a:ext cx="7777269" cy="43815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52388" y="6597650"/>
            <a:ext cx="2133600" cy="1968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Calibri" pitchFamily="34" charset="0"/>
              </a:defRPr>
            </a:lvl1pPr>
          </a:lstStyle>
          <a:p>
            <a:fld id="{25A5EEFE-AD6B-49D5-BA49-F5A446D2B52C}" type="slidenum">
              <a:rPr lang="es-ES"/>
              <a:pPr/>
              <a:t>‹#›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6264275"/>
            <a:ext cx="9144000" cy="5937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74763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" name="Slide Number Placeholder 5"/>
          <p:cNvSpPr txBox="1">
            <a:spLocks/>
          </p:cNvSpPr>
          <p:nvPr/>
        </p:nvSpPr>
        <p:spPr>
          <a:xfrm>
            <a:off x="8223250" y="6446838"/>
            <a:ext cx="56515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15EF5F5-585B-491A-9816-976DF3AA55DE}" type="slidenum">
              <a:rPr lang="en-US" sz="900" b="1" smtClean="0"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1" dirty="0" smtClean="0">
              <a:latin typeface="+mn-lt"/>
              <a:cs typeface="+mn-cs"/>
            </a:endParaRPr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50838"/>
            <a:ext cx="8218488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Verdana" pitchFamily="34" charset="0"/>
        </a:defRPr>
      </a:lvl9pPr>
    </p:titleStyle>
    <p:bodyStyle>
      <a:lvl1pPr marL="342900" indent="-342900" algn="l" rtl="0" fontAlgn="base">
        <a:lnSpc>
          <a:spcPts val="3000"/>
        </a:lnSpc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ts val="2400"/>
        </a:lnSpc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ts val="2400"/>
        </a:lnSpc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ts val="1800"/>
        </a:lnSpc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ts val="1800"/>
        </a:lnSpc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09125" y="436476"/>
            <a:ext cx="8316912" cy="1371600"/>
          </a:xfrm>
        </p:spPr>
        <p:txBody>
          <a:bodyPr rtlCol="0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dirty="0" smtClean="0"/>
              <a:t>Satisfaction Modeling</a:t>
            </a:r>
            <a:endParaRPr lang="en-US" sz="3600" dirty="0"/>
          </a:p>
        </p:txBody>
      </p:sp>
      <p:sp>
        <p:nvSpPr>
          <p:cNvPr id="12291" name="Text Placeholder 11"/>
          <p:cNvSpPr>
            <a:spLocks noGrp="1"/>
          </p:cNvSpPr>
          <p:nvPr>
            <p:ph type="body" sz="quarter" idx="4294967295"/>
          </p:nvPr>
        </p:nvSpPr>
        <p:spPr>
          <a:xfrm>
            <a:off x="468313" y="6400800"/>
            <a:ext cx="3738562" cy="21907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 smtClean="0"/>
              <a:t>April 1,  2016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9400" y="5574268"/>
            <a:ext cx="205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>
                <a:solidFill>
                  <a:schemeClr val="tx1">
                    <a:lumMod val="50000"/>
                  </a:schemeClr>
                </a:solidFill>
              </a:rPr>
              <a:t>Akshay Kher</a:t>
            </a:r>
            <a:endParaRPr lang="en-IN" dirty="0" smtClean="0"/>
          </a:p>
        </p:txBody>
      </p:sp>
      <p:pic>
        <p:nvPicPr>
          <p:cNvPr id="1026" name="Picture 2" descr="http://previews.123rf.com/images/mindscanner/mindscanner1404/mindscanner140401333/27807288-Word-Cloud-with-Customer-Satisfaction-related-tags-Stock-Phot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19200"/>
            <a:ext cx="6400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98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/>
          </p:cNvSpPr>
          <p:nvPr/>
        </p:nvSpPr>
        <p:spPr>
          <a:xfrm>
            <a:off x="457200" y="914400"/>
            <a:ext cx="8305800" cy="32004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b="1" u="sng" dirty="0" smtClean="0">
                <a:solidFill>
                  <a:srgbClr val="0066A1"/>
                </a:solidFill>
                <a:latin typeface="Verdana" pitchFamily="34" charset="0"/>
              </a:rPr>
              <a:t>Background</a:t>
            </a:r>
            <a:endParaRPr lang="en-US" b="1" u="sng" dirty="0">
              <a:solidFill>
                <a:srgbClr val="0066A1"/>
              </a:solidFill>
              <a:latin typeface="Verdana" pitchFamily="34" charset="0"/>
            </a:endParaRPr>
          </a:p>
          <a:p>
            <a:r>
              <a:rPr lang="en-US" sz="1600" dirty="0" smtClean="0">
                <a:latin typeface="+mn-lt"/>
              </a:rPr>
              <a:t>Marketers are keen to understand the relationship between customer satisfaction and sales. They want to know what drives satisfaction and its contribution in driving net sales.</a:t>
            </a:r>
            <a:endParaRPr lang="en-US" sz="1600" dirty="0">
              <a:latin typeface="+mn-lt"/>
            </a:endParaRPr>
          </a:p>
          <a:p>
            <a:endParaRPr lang="en-US" sz="1600" i="1" dirty="0" smtClean="0">
              <a:latin typeface="+mn-lt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b="1" u="sng" dirty="0" smtClean="0">
                <a:solidFill>
                  <a:srgbClr val="0066A1"/>
                </a:solidFill>
                <a:latin typeface="Verdana" pitchFamily="34" charset="0"/>
              </a:rPr>
              <a:t>Objective</a:t>
            </a:r>
          </a:p>
          <a:p>
            <a:r>
              <a:rPr lang="en-US" sz="1600" dirty="0">
                <a:latin typeface="+mn-lt"/>
              </a:rPr>
              <a:t>The primary objective of this study is to find </a:t>
            </a:r>
            <a:r>
              <a:rPr lang="en-US" sz="1600" dirty="0" smtClean="0">
                <a:latin typeface="+mn-lt"/>
              </a:rPr>
              <a:t>‘To what extent does satisfaction drive sales?’</a:t>
            </a:r>
            <a:endParaRPr lang="en-US" sz="1600" dirty="0">
              <a:latin typeface="+mn-lt"/>
            </a:endParaRPr>
          </a:p>
          <a:p>
            <a:pPr lvl="1"/>
            <a:endParaRPr lang="en-US" sz="1400" i="1" dirty="0">
              <a:solidFill>
                <a:srgbClr val="616365"/>
              </a:solidFill>
              <a:latin typeface="Verdana"/>
            </a:endParaRPr>
          </a:p>
          <a:p>
            <a:pPr marL="342900" lvl="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b="1" u="sng" dirty="0" smtClean="0">
                <a:solidFill>
                  <a:srgbClr val="0066A1"/>
                </a:solidFill>
                <a:latin typeface="Verdana" pitchFamily="34" charset="0"/>
              </a:rPr>
              <a:t>Data</a:t>
            </a:r>
            <a:endParaRPr lang="en-US" b="1" u="sng" dirty="0">
              <a:solidFill>
                <a:srgbClr val="0066A1"/>
              </a:solidFill>
              <a:latin typeface="Verdana" pitchFamily="34" charset="0"/>
            </a:endParaRPr>
          </a:p>
          <a:p>
            <a:pPr lvl="0"/>
            <a:r>
              <a:rPr lang="en-US" sz="1600" dirty="0" smtClean="0">
                <a:latin typeface="+mn-lt"/>
              </a:rPr>
              <a:t>Customer level data for ~ 1MN customers. Also a dataset which includes responses based on a customer satisfaction survey.</a:t>
            </a:r>
            <a:endParaRPr lang="en-US" sz="1600" dirty="0">
              <a:latin typeface="+mn-lt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400" i="1" dirty="0">
              <a:solidFill>
                <a:srgbClr val="616365"/>
              </a:solidFill>
              <a:latin typeface="Verdana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400" i="1" dirty="0" smtClean="0">
              <a:solidFill>
                <a:srgbClr val="616365"/>
              </a:solidFill>
              <a:latin typeface="Verdana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400" i="1" dirty="0">
              <a:solidFill>
                <a:srgbClr val="616365"/>
              </a:solidFill>
              <a:latin typeface="Verdana"/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 bwMode="auto">
          <a:xfrm>
            <a:off x="381000" y="204787"/>
            <a:ext cx="82089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en-US" sz="2400" kern="0" dirty="0" smtClean="0">
                <a:solidFill>
                  <a:srgbClr val="002060"/>
                </a:solidFill>
                <a:latin typeface="+mj-lt"/>
                <a:ea typeface="+mj-ea"/>
                <a:cs typeface="Calibri" pitchFamily="34" charset="0"/>
              </a:rPr>
              <a:t>Background / Objective</a:t>
            </a:r>
            <a:endParaRPr lang="en-US" sz="2400" kern="0" dirty="0">
              <a:solidFill>
                <a:srgbClr val="002060"/>
              </a:solidFill>
              <a:latin typeface="+mj-lt"/>
              <a:ea typeface="+mj-ea"/>
              <a:cs typeface="Calibri" pitchFamily="34" charset="0"/>
            </a:endParaRPr>
          </a:p>
        </p:txBody>
      </p:sp>
      <p:pic>
        <p:nvPicPr>
          <p:cNvPr id="2050" name="Picture 2" descr="http://www.surveycrest.com/blog/wp-content/uploads/2013/12/What-is-Customer-Satisfaction-Survey-C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191000"/>
            <a:ext cx="3121025" cy="195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surveymethods.com/images/survey-software-reporting-and-analysis-too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155814"/>
            <a:ext cx="2981325" cy="199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55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631818"/>
          </a:xfrm>
        </p:spPr>
        <p:txBody>
          <a:bodyPr/>
          <a:lstStyle/>
          <a:p>
            <a:r>
              <a:rPr lang="en-US" dirty="0" smtClean="0"/>
              <a:t>Overall level of satisfaction in relatively high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44664"/>
              </p:ext>
            </p:extLst>
          </p:nvPr>
        </p:nvGraphicFramePr>
        <p:xfrm>
          <a:off x="2133600" y="1257300"/>
          <a:ext cx="4495800" cy="4457700"/>
        </p:xfrm>
        <a:graphic>
          <a:graphicData uri="http://schemas.openxmlformats.org/drawingml/2006/table">
            <a:tbl>
              <a:tblPr/>
              <a:tblGrid>
                <a:gridCol w="2345635"/>
                <a:gridCol w="2150165"/>
              </a:tblGrid>
              <a:tr h="685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Average Rating*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Overall</a:t>
                      </a: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Satisfaction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Likely</a:t>
                      </a:r>
                      <a:r>
                        <a:rPr lang="en-US" sz="1400" b="1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Recommend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8.7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Likely Return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Hospital Atmosphere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Staff Friendly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Vet Knowledge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Vet Communicate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Pet Care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Checkout Process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6.4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Payment Options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5.9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Fair Prices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5.5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59436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*All survey </a:t>
            </a:r>
            <a:r>
              <a:rPr lang="en-US" sz="1200" dirty="0" smtClean="0"/>
              <a:t>responses</a:t>
            </a:r>
            <a:r>
              <a:rPr lang="en-US" sz="1200" dirty="0" smtClean="0"/>
              <a:t> </a:t>
            </a:r>
            <a:r>
              <a:rPr lang="en-US" sz="1200" dirty="0" smtClean="0"/>
              <a:t>range from 1-7 in increasing order of satisfaction. Likely Recommend ranges from 0-10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40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882" y="4724400"/>
            <a:ext cx="7772400" cy="1041383"/>
          </a:xfrm>
        </p:spPr>
        <p:txBody>
          <a:bodyPr/>
          <a:lstStyle/>
          <a:p>
            <a:r>
              <a:rPr lang="en-US" sz="2500" dirty="0" smtClean="0"/>
              <a:t> Which customer segments drive satisfaction for the</a:t>
            </a:r>
            <a:br>
              <a:rPr lang="en-US" sz="2500" dirty="0" smtClean="0"/>
            </a:br>
            <a:r>
              <a:rPr lang="en-US" sz="2500" dirty="0" smtClean="0"/>
              <a:t> client?</a:t>
            </a:r>
            <a:endParaRPr lang="en-US" sz="2500" dirty="0"/>
          </a:p>
        </p:txBody>
      </p:sp>
      <p:pic>
        <p:nvPicPr>
          <p:cNvPr id="5124" name="Picture 4" descr="http://www.dynamic-concepts.nl/wp-content/uploads/2012/12/Segmentati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8600"/>
            <a:ext cx="5102225" cy="411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16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consumer behavior variables; transaction variables, service usage variables</a:t>
            </a:r>
          </a:p>
          <a:p>
            <a:r>
              <a:rPr lang="en-US" dirty="0" smtClean="0"/>
              <a:t>Variables tested for non-normality by checking z scores &gt; +/- 3.0 standard deviations</a:t>
            </a:r>
          </a:p>
          <a:p>
            <a:r>
              <a:rPr lang="en-US" dirty="0" smtClean="0"/>
              <a:t>Segmentation done using Latent Gold</a:t>
            </a:r>
          </a:p>
          <a:p>
            <a:r>
              <a:rPr lang="en-US" dirty="0" smtClean="0"/>
              <a:t>Following variables were significant for segmentation: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Average Days Between Visits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Average Price Paid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Overall Satisfaction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Hospital Atmosphere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Likely Return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Total Units</a:t>
            </a:r>
          </a:p>
          <a:p>
            <a:r>
              <a:rPr lang="en-US" dirty="0" smtClean="0"/>
              <a:t>Various cluster solutions tried. Optimum number of clusters found: 3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01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 1: The Satisfied 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914400"/>
            <a:ext cx="4114800" cy="5029200"/>
          </a:xfrm>
        </p:spPr>
        <p:txBody>
          <a:bodyPr/>
          <a:lstStyle/>
          <a:p>
            <a:pPr marL="0" indent="0">
              <a:buNone/>
            </a:pPr>
            <a:endParaRPr lang="en-US" sz="1400" b="1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54% of the customer base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Average Satisfaction Score: 6.9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Average Price Paid: $ 23.9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Average Units Bought: 158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Likely Recommend Score: 9.4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Average Days Between Visits: 64</a:t>
            </a: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b="1" dirty="0" smtClean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http://blog.hillsbiblechurch.org/wp-content/uploads/2012/03/Self-satisfi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9" y="2057400"/>
            <a:ext cx="4048125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2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 2: The Middle men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1066800"/>
            <a:ext cx="3886200" cy="5113370"/>
          </a:xfrm>
        </p:spPr>
        <p:txBody>
          <a:bodyPr/>
          <a:lstStyle/>
          <a:p>
            <a:pPr marL="0" indent="0">
              <a:buNone/>
            </a:pPr>
            <a:endParaRPr lang="en-US" sz="1400" b="1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28% </a:t>
            </a:r>
            <a:r>
              <a:rPr lang="en-US" sz="1600" b="1" dirty="0"/>
              <a:t>of the customer base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Satisfaction Score: </a:t>
            </a:r>
            <a:r>
              <a:rPr lang="en-US" sz="1600" b="1" dirty="0" smtClean="0"/>
              <a:t>6.4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Price Paid: $ </a:t>
            </a:r>
            <a:r>
              <a:rPr lang="en-US" sz="1600" b="1" dirty="0" smtClean="0"/>
              <a:t>24.5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Units Bought: </a:t>
            </a:r>
            <a:r>
              <a:rPr lang="en-US" sz="1600" b="1" dirty="0" smtClean="0"/>
              <a:t>134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Likely Recommend Score: </a:t>
            </a:r>
            <a:r>
              <a:rPr lang="en-US" sz="1600" b="1" dirty="0" smtClean="0"/>
              <a:t>8.5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Days Between Visits: </a:t>
            </a:r>
            <a:r>
              <a:rPr lang="en-US" sz="1600" b="1" dirty="0" smtClean="0"/>
              <a:t>69</a:t>
            </a:r>
            <a:endParaRPr lang="en-US" sz="16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b="1" dirty="0" smtClean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http://paratureprod.blob.core.windows.net/wp-uploads/CEO-customer-servi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4451683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23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782"/>
            <a:ext cx="8218488" cy="631818"/>
          </a:xfrm>
        </p:spPr>
        <p:txBody>
          <a:bodyPr/>
          <a:lstStyle/>
          <a:p>
            <a:r>
              <a:rPr lang="en-US" dirty="0"/>
              <a:t>Segment </a:t>
            </a:r>
            <a:r>
              <a:rPr lang="en-US" dirty="0" smtClean="0"/>
              <a:t>3: </a:t>
            </a:r>
            <a:r>
              <a:rPr lang="en-US" dirty="0"/>
              <a:t>The </a:t>
            </a:r>
            <a:r>
              <a:rPr lang="en-US" dirty="0" smtClean="0"/>
              <a:t>Discontented 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914400"/>
            <a:ext cx="3657600" cy="5029200"/>
          </a:xfrm>
        </p:spPr>
        <p:txBody>
          <a:bodyPr/>
          <a:lstStyle/>
          <a:p>
            <a:pPr marL="0" indent="0">
              <a:buNone/>
            </a:pPr>
            <a:endParaRPr lang="en-US" sz="1400" b="1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1</a:t>
            </a:r>
            <a:r>
              <a:rPr lang="en-US" sz="1600" b="1" dirty="0" smtClean="0"/>
              <a:t>8</a:t>
            </a:r>
            <a:r>
              <a:rPr lang="en-US" sz="1600" b="1" dirty="0"/>
              <a:t>% of the customer base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Satisfaction Score: </a:t>
            </a:r>
            <a:r>
              <a:rPr lang="en-US" sz="1600" b="1" dirty="0" smtClean="0"/>
              <a:t>5.3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Price Paid: $ </a:t>
            </a:r>
            <a:r>
              <a:rPr lang="en-US" sz="1600" b="1" dirty="0" smtClean="0"/>
              <a:t>24.4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Units Bought: </a:t>
            </a:r>
            <a:r>
              <a:rPr lang="en-US" sz="1600" b="1" dirty="0" smtClean="0"/>
              <a:t>130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smtClean="0"/>
              <a:t>Fair Prices Score</a:t>
            </a:r>
            <a:r>
              <a:rPr lang="en-US" sz="1600" b="1" dirty="0"/>
              <a:t>: </a:t>
            </a:r>
            <a:r>
              <a:rPr lang="en-US" sz="1600" b="1" dirty="0" smtClean="0"/>
              <a:t>4.0</a:t>
            </a: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/>
              <a:t>Average Days Between Visits: </a:t>
            </a:r>
            <a:r>
              <a:rPr lang="en-US" sz="1600" b="1" dirty="0" smtClean="0"/>
              <a:t>70</a:t>
            </a:r>
            <a:endParaRPr lang="en-US" sz="1600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b="1" dirty="0" smtClean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http://www.omegascoreboard.com/news/wp-content/uploads/frustrated-customers-can-damage-a-firms-reputation-by-posting-complaints_625_441928_1_14068806_3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057400"/>
            <a:ext cx="3352800" cy="299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41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Simultaneous Equations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Dependent Variable: Total Units</a:t>
            </a:r>
          </a:p>
          <a:p>
            <a:r>
              <a:rPr lang="en-US" dirty="0" smtClean="0"/>
              <a:t>Procedure Used: Proc </a:t>
            </a:r>
            <a:r>
              <a:rPr lang="en-US" dirty="0" err="1" smtClean="0"/>
              <a:t>Syslin</a:t>
            </a:r>
            <a:r>
              <a:rPr lang="en-US" dirty="0" smtClean="0"/>
              <a:t> 2SLS</a:t>
            </a:r>
          </a:p>
          <a:p>
            <a:r>
              <a:rPr lang="en-US" dirty="0" smtClean="0"/>
              <a:t>Endogenous Variable: </a:t>
            </a:r>
            <a:r>
              <a:rPr lang="en-US" dirty="0" err="1" smtClean="0"/>
              <a:t>Overall_Sat</a:t>
            </a:r>
            <a:endParaRPr lang="en-US" dirty="0" smtClean="0"/>
          </a:p>
          <a:p>
            <a:r>
              <a:rPr lang="en-US" dirty="0" smtClean="0"/>
              <a:t>Instruments: </a:t>
            </a:r>
            <a:r>
              <a:rPr lang="en-US" dirty="0"/>
              <a:t>LIKELY_RECOMMEND LIKELY_RETURN HOSPITAL_ATMOSPHERE STAFF_FRIENDLY STAFF_PREPARED KEPT_INFORMED </a:t>
            </a:r>
            <a:r>
              <a:rPr lang="en-US" dirty="0" smtClean="0"/>
              <a:t>VET_KNOWLEDGE </a:t>
            </a:r>
            <a:r>
              <a:rPr lang="en-US" dirty="0"/>
              <a:t>VET_COMMUNICATE PET_CARE CARING_AT_HOME COST_NEXT_VISIT PET_NEXT_VISIT CHECKOUT_PROCESS PAYMENT_OPTIONS </a:t>
            </a:r>
            <a:r>
              <a:rPr lang="en-US" dirty="0" smtClean="0"/>
              <a:t>FAIR_PRICES </a:t>
            </a:r>
            <a:r>
              <a:rPr lang="en-US" dirty="0"/>
              <a:t>price </a:t>
            </a:r>
            <a:r>
              <a:rPr lang="en-US" dirty="0" err="1"/>
              <a:t>avg_days_between</a:t>
            </a:r>
            <a:r>
              <a:rPr lang="en-US" dirty="0"/>
              <a:t> </a:t>
            </a:r>
            <a:r>
              <a:rPr lang="en-US" dirty="0" err="1"/>
              <a:t>num_invoices</a:t>
            </a:r>
            <a:endParaRPr lang="en-US" dirty="0" smtClean="0"/>
          </a:p>
          <a:p>
            <a:r>
              <a:rPr lang="en-US" dirty="0" smtClean="0"/>
              <a:t>Models run by: Segment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55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18488" cy="631818"/>
          </a:xfrm>
        </p:spPr>
        <p:txBody>
          <a:bodyPr/>
          <a:lstStyle/>
          <a:p>
            <a:r>
              <a:rPr lang="en-US" dirty="0" smtClean="0"/>
              <a:t>Segment 1: What drives satisfaction? To what extent does satisfaction drive sales?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86200"/>
            <a:ext cx="8305800" cy="2209800"/>
          </a:xfrm>
        </p:spPr>
        <p:txBody>
          <a:bodyPr/>
          <a:lstStyle/>
          <a:p>
            <a:r>
              <a:rPr lang="en-US" dirty="0" smtClean="0"/>
              <a:t>Highly satisfied customers</a:t>
            </a:r>
          </a:p>
          <a:p>
            <a:r>
              <a:rPr lang="en-US" dirty="0" smtClean="0"/>
              <a:t>More likely to recommend to friends and family</a:t>
            </a:r>
          </a:p>
          <a:p>
            <a:r>
              <a:rPr lang="en-US" dirty="0" smtClean="0"/>
              <a:t>Most satisfied with prices and check out process</a:t>
            </a:r>
          </a:p>
          <a:p>
            <a:r>
              <a:rPr lang="en-US" dirty="0" smtClean="0"/>
              <a:t>Already satisfied, so satisfaction does not drive sales for this segment</a:t>
            </a:r>
          </a:p>
          <a:p>
            <a:r>
              <a:rPr lang="en-US" dirty="0" smtClean="0"/>
              <a:t>Price inelastic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956846"/>
            <a:ext cx="4369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sz="1600" dirty="0" smtClean="0">
                <a:latin typeface="Verdana" pitchFamily="34" charset="0"/>
              </a:rPr>
              <a:t>Dependent Variable: Overall Satisfaction</a:t>
            </a:r>
            <a:endParaRPr lang="en-US" sz="1600" dirty="0">
              <a:latin typeface="Verdan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180173"/>
              </p:ext>
            </p:extLst>
          </p:nvPr>
        </p:nvGraphicFramePr>
        <p:xfrm>
          <a:off x="1015283" y="1428768"/>
          <a:ext cx="3099517" cy="2152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80"/>
                <a:gridCol w="1282237"/>
              </a:tblGrid>
              <a:tr h="5588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Variable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% Impact</a:t>
                      </a:r>
                      <a:endParaRPr lang="en-US" sz="1200" dirty="0"/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Likely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Recommend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2.6%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Kept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Informed</a:t>
                      </a:r>
                      <a:endParaRPr lang="en-US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1.4%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Pet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Next Visit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Checkout Process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6.2%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Fair Prices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1.4%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66954"/>
              </p:ext>
            </p:extLst>
          </p:nvPr>
        </p:nvGraphicFramePr>
        <p:xfrm>
          <a:off x="5206283" y="1447800"/>
          <a:ext cx="3099517" cy="1972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80"/>
                <a:gridCol w="1282237"/>
              </a:tblGrid>
              <a:tr h="5588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Variable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% Impact</a:t>
                      </a:r>
                      <a:endParaRPr lang="en-US" sz="1200" dirty="0"/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Overall Satisfaction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-2.9%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-2.4%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Average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days between visits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No of invoices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2.8%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956846"/>
            <a:ext cx="3409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sz="1600" dirty="0" smtClean="0">
                <a:latin typeface="Verdana" pitchFamily="34" charset="0"/>
              </a:rPr>
              <a:t>Dependent Variable: Unit Sales</a:t>
            </a:r>
            <a:endParaRPr lang="en-US" sz="16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87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18488" cy="631818"/>
          </a:xfrm>
        </p:spPr>
        <p:txBody>
          <a:bodyPr/>
          <a:lstStyle/>
          <a:p>
            <a:r>
              <a:rPr lang="en-US" dirty="0" smtClean="0"/>
              <a:t>Segment 2: What drives satisfaction? To what extent does satisfaction drive sales?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0"/>
            <a:ext cx="8305800" cy="1143000"/>
          </a:xfrm>
        </p:spPr>
        <p:txBody>
          <a:bodyPr/>
          <a:lstStyle/>
          <a:p>
            <a:r>
              <a:rPr lang="en-US" dirty="0" smtClean="0"/>
              <a:t>Most </a:t>
            </a:r>
            <a:r>
              <a:rPr lang="en-US" dirty="0"/>
              <a:t>likely to recommend to friends and family</a:t>
            </a:r>
          </a:p>
          <a:p>
            <a:r>
              <a:rPr lang="en-US" dirty="0" smtClean="0"/>
              <a:t>Satisfaction driven by perceived high vet knowledge and staff preparedness</a:t>
            </a:r>
          </a:p>
          <a:p>
            <a:r>
              <a:rPr lang="en-US" dirty="0" smtClean="0"/>
              <a:t>Satisfaction high driver of unit sales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956846"/>
            <a:ext cx="4369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sz="1600" dirty="0" smtClean="0">
                <a:latin typeface="Verdana" pitchFamily="34" charset="0"/>
              </a:rPr>
              <a:t>Dependent Variable: Overall Satisfaction</a:t>
            </a:r>
            <a:endParaRPr lang="en-US" sz="1600" dirty="0">
              <a:latin typeface="Verdan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363341"/>
              </p:ext>
            </p:extLst>
          </p:nvPr>
        </p:nvGraphicFramePr>
        <p:xfrm>
          <a:off x="1015283" y="1428768"/>
          <a:ext cx="3099517" cy="3746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80"/>
                <a:gridCol w="1282237"/>
              </a:tblGrid>
              <a:tr h="5588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Variable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% Impact</a:t>
                      </a:r>
                      <a:endParaRPr lang="en-US" sz="1200" dirty="0"/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Likely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Recommend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18.1%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Kept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Informed</a:t>
                      </a:r>
                      <a:endParaRPr lang="en-US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2.4%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Pet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Next Visit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2.3%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Fair Prices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6.9%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Caring at Home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-3.8%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Vet Knowledge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13.8%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Staff Prepared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5.4%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Hospital Atmosphere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-5.3%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Likely Return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4.5%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Payment Options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-3.4%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6173"/>
              </p:ext>
            </p:extLst>
          </p:nvPr>
        </p:nvGraphicFramePr>
        <p:xfrm>
          <a:off x="5206283" y="1447800"/>
          <a:ext cx="3099517" cy="1972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80"/>
                <a:gridCol w="1282237"/>
              </a:tblGrid>
              <a:tr h="5588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Variable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% Impact</a:t>
                      </a:r>
                      <a:endParaRPr lang="en-US" sz="1200" dirty="0"/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Overall Satisfaction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23.9%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-7.0%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Average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days between visits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No of invoices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8.0%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956846"/>
            <a:ext cx="3409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sz="1600" dirty="0" smtClean="0">
                <a:latin typeface="Verdana" pitchFamily="34" charset="0"/>
              </a:rPr>
              <a:t>Dependent Variable: Unit Sales</a:t>
            </a:r>
            <a:endParaRPr lang="en-US" sz="16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18488" cy="631818"/>
          </a:xfrm>
        </p:spPr>
        <p:txBody>
          <a:bodyPr/>
          <a:lstStyle/>
          <a:p>
            <a:r>
              <a:rPr lang="en-US" dirty="0" smtClean="0"/>
              <a:t>Segment </a:t>
            </a:r>
            <a:r>
              <a:rPr lang="en-US" dirty="0"/>
              <a:t>3</a:t>
            </a:r>
            <a:r>
              <a:rPr lang="en-US" dirty="0" smtClean="0"/>
              <a:t>: What drives satisfaction? To what extent does satisfaction drive sales?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13841"/>
            <a:ext cx="8305800" cy="3253959"/>
          </a:xfrm>
        </p:spPr>
        <p:txBody>
          <a:bodyPr/>
          <a:lstStyle/>
          <a:p>
            <a:r>
              <a:rPr lang="en-US" dirty="0"/>
              <a:t>Most likely to </a:t>
            </a:r>
            <a:r>
              <a:rPr lang="en-US" dirty="0" smtClean="0"/>
              <a:t>return for another visit</a:t>
            </a:r>
            <a:endParaRPr lang="en-US" dirty="0"/>
          </a:p>
          <a:p>
            <a:r>
              <a:rPr lang="en-US" dirty="0" smtClean="0"/>
              <a:t>Satisfaction not a major driver of unit sales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956846"/>
            <a:ext cx="4369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sz="1600" dirty="0" smtClean="0">
                <a:latin typeface="Verdana" pitchFamily="34" charset="0"/>
              </a:rPr>
              <a:t>Dependent Variable: Overall Satisfaction</a:t>
            </a:r>
            <a:endParaRPr lang="en-US" sz="1600" dirty="0">
              <a:latin typeface="Verdan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712214"/>
              </p:ext>
            </p:extLst>
          </p:nvPr>
        </p:nvGraphicFramePr>
        <p:xfrm>
          <a:off x="1015283" y="1428768"/>
          <a:ext cx="3099517" cy="4383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80"/>
                <a:gridCol w="1282237"/>
              </a:tblGrid>
              <a:tr h="5588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Variable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% Impact</a:t>
                      </a:r>
                      <a:endParaRPr lang="en-US" sz="1200" dirty="0"/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Likely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Recommend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32.1%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Kept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Informed</a:t>
                      </a:r>
                      <a:endParaRPr lang="en-US" sz="12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3.5%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Fair Prices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3.7%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Vet Knowledge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3.2%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Staff Prepared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5.9%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Hospital Atmosphere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-10.8%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Likely Return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33.1%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Payment Options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-3.2%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Vet Communicate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-3.2%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Pet Care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Staff Friendly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-4.9%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Cost Next Visit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4.0%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072383"/>
              </p:ext>
            </p:extLst>
          </p:nvPr>
        </p:nvGraphicFramePr>
        <p:xfrm>
          <a:off x="5206283" y="1447800"/>
          <a:ext cx="3099517" cy="1972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80"/>
                <a:gridCol w="1282237"/>
              </a:tblGrid>
              <a:tr h="5588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Variable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% Impact</a:t>
                      </a:r>
                      <a:endParaRPr lang="en-US" sz="1200" dirty="0"/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Overall Satisfaction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-12.5%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-6.2%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Average</a:t>
                      </a:r>
                      <a:r>
                        <a:rPr lang="en-US" sz="1200" baseline="0" dirty="0" smtClean="0">
                          <a:solidFill>
                            <a:schemeClr val="bg1"/>
                          </a:solidFill>
                        </a:rPr>
                        <a:t> days between visits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2.6%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18747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solidFill>
                            <a:schemeClr val="bg1"/>
                          </a:solidFill>
                        </a:rPr>
                        <a:t>No of invoices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5.5%</a:t>
                      </a:r>
                      <a:endParaRPr lang="en-US" sz="12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956846"/>
            <a:ext cx="34095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rgbClr val="0066A1"/>
              </a:buClr>
            </a:pPr>
            <a:r>
              <a:rPr lang="en-US" sz="1600" dirty="0" smtClean="0">
                <a:latin typeface="Verdana" pitchFamily="34" charset="0"/>
              </a:rPr>
              <a:t>Dependent Variable: Unit Sales</a:t>
            </a:r>
            <a:endParaRPr lang="en-US" sz="1600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29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Financial Implications have been calculated on the basis of potential revenue gain as a result of improving overall satisfaction</a:t>
            </a:r>
          </a:p>
          <a:p>
            <a:r>
              <a:rPr lang="en-US" dirty="0" smtClean="0"/>
              <a:t>Since price is inelastic throughout, an increase in price will increase net revenue</a:t>
            </a:r>
          </a:p>
          <a:p>
            <a:r>
              <a:rPr lang="en-US" dirty="0" smtClean="0"/>
              <a:t>Revenue gain had been calculated assuming a 10% improvement in overall satisfaction and a 10% price increase for all the 3 segments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7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18488" cy="631818"/>
          </a:xfrm>
        </p:spPr>
        <p:txBody>
          <a:bodyPr/>
          <a:lstStyle/>
          <a:p>
            <a:r>
              <a:rPr lang="en-US" dirty="0" smtClean="0"/>
              <a:t>Revenue Gain by increasing satisfaction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55121"/>
              </p:ext>
            </p:extLst>
          </p:nvPr>
        </p:nvGraphicFramePr>
        <p:xfrm>
          <a:off x="533400" y="990600"/>
          <a:ext cx="8077200" cy="2971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017"/>
                <a:gridCol w="1078383"/>
                <a:gridCol w="914400"/>
                <a:gridCol w="914400"/>
                <a:gridCol w="914400"/>
                <a:gridCol w="990600"/>
                <a:gridCol w="990600"/>
                <a:gridCol w="914400"/>
              </a:tblGrid>
              <a:tr h="87153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Elasticity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Old Mean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New Mean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New Revenue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Old Revenue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Revenue Gain</a:t>
                      </a:r>
                      <a:endParaRPr lang="en-US" sz="1100" dirty="0"/>
                    </a:p>
                  </a:txBody>
                  <a:tcPr anchor="ctr"/>
                </a:tc>
              </a:tr>
              <a:tr h="236042">
                <a:tc rowSpan="2"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Segment 1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Overall Satisfaction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-8.4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6.95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7.65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$ 656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$ 3,796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$ 691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2360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Price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-0.82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23.92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26.31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$ 3,832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36042">
                <a:tc rowSpan="2"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Segment 2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Overall Satisfaction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0.03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6.45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7.09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$ 3,639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$ 3,297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$ 3,692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2360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Price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-0.76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24.57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27.03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$ 3,351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9580">
                <a:tc rowSpan="2"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Segment 3 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Overall Satisfaction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-0.12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5.36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5.90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$ 3,450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$ 3,176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$ 3,502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  <a:tr h="2360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Price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-0.76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24.43</a:t>
                      </a:r>
                      <a:endParaRPr lang="en-US" sz="11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26.87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$ 3,227</a:t>
                      </a:r>
                      <a:endParaRPr lang="en-US" sz="11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3400" y="4114800"/>
            <a:ext cx="807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 improvement in satisfaction for Segment 2 results in maximum revenue gain followed by Segment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Above modeling plan can be tested using segment sensitivities as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10% sample size of each segment can be used to test the modeling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Increased revenue can then be compared to that of the remaining segment to estimate model effectiveness and revenue gain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2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ri_ppt_template">
  <a:themeElements>
    <a:clrScheme name="IRi Documents">
      <a:dk1>
        <a:srgbClr val="616365"/>
      </a:dk1>
      <a:lt1>
        <a:sysClr val="window" lastClr="FFFFFF"/>
      </a:lt1>
      <a:dk2>
        <a:srgbClr val="616365"/>
      </a:dk2>
      <a:lt2>
        <a:srgbClr val="E0E1DD"/>
      </a:lt2>
      <a:accent1>
        <a:srgbClr val="002776"/>
      </a:accent1>
      <a:accent2>
        <a:srgbClr val="D2492A"/>
      </a:accent2>
      <a:accent3>
        <a:srgbClr val="009FDA"/>
      </a:accent3>
      <a:accent4>
        <a:srgbClr val="002776"/>
      </a:accent4>
      <a:accent5>
        <a:srgbClr val="D2492A"/>
      </a:accent5>
      <a:accent6>
        <a:srgbClr val="009FDA"/>
      </a:accent6>
      <a:hlink>
        <a:srgbClr val="009FDA"/>
      </a:hlink>
      <a:folHlink>
        <a:srgbClr val="002776"/>
      </a:folHlink>
    </a:clrScheme>
    <a:fontScheme name="Ir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Iri_ppt_template</Template>
  <TotalTime>27091</TotalTime>
  <Words>925</Words>
  <Application>Microsoft Office PowerPoint</Application>
  <PresentationFormat>On-screen Show (4:3)</PresentationFormat>
  <Paragraphs>277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Verdana</vt:lpstr>
      <vt:lpstr>Wingdings</vt:lpstr>
      <vt:lpstr>Iri_ppt_template</vt:lpstr>
      <vt:lpstr>Satisfaction Modeling</vt:lpstr>
      <vt:lpstr>PowerPoint Presentation</vt:lpstr>
      <vt:lpstr>Overall level of satisfaction in relatively high</vt:lpstr>
      <vt:lpstr> Which customer segments drive satisfaction for the  client?</vt:lpstr>
      <vt:lpstr>Segmentation</vt:lpstr>
      <vt:lpstr>Segment 1: The Satisfied Lot</vt:lpstr>
      <vt:lpstr>Segment 2: The Middle men</vt:lpstr>
      <vt:lpstr>Segment 3: The Discontented Lot</vt:lpstr>
      <vt:lpstr>Simultaneous Equations Modeling</vt:lpstr>
      <vt:lpstr>Segment 1: What drives satisfaction? To what extent does satisfaction drive sales?</vt:lpstr>
      <vt:lpstr>Segment 2: What drives satisfaction? To what extent does satisfaction drive sales?</vt:lpstr>
      <vt:lpstr>Segment 3: What drives satisfaction? To what extent does satisfaction drive sales?</vt:lpstr>
      <vt:lpstr>Financial Implications</vt:lpstr>
      <vt:lpstr>Revenue Gain by increasing satisfaction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Wrigley MSL Store Group Analysis</dc:title>
  <dc:creator>Authorized User</dc:creator>
  <cp:lastModifiedBy>Akshay Kher</cp:lastModifiedBy>
  <cp:revision>1042</cp:revision>
  <dcterms:created xsi:type="dcterms:W3CDTF">2013-05-14T13:53:02Z</dcterms:created>
  <dcterms:modified xsi:type="dcterms:W3CDTF">2016-04-01T04:15:04Z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620563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D5.0.5</vt:lpwstr>
  </property>
</Properties>
</file>